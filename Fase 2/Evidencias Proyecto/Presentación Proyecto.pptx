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ton" charset="1" panose="00000500000000000000"/>
      <p:regular r:id="rId14"/>
    </p:embeddedFont>
    <p:embeddedFont>
      <p:font typeface="Inter" charset="1" panose="020B0502030000000004"/>
      <p:regular r:id="rId15"/>
    </p:embeddedFont>
    <p:embeddedFont>
      <p:font typeface="Inter Bold" charset="1" panose="020B0802030000000004"/>
      <p:regular r:id="rId16"/>
    </p:embeddedFont>
    <p:embeddedFont>
      <p:font typeface="Inter Bold Italics" charset="1" panose="020B080203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291358" y="4563338"/>
            <a:ext cx="22211183" cy="8117178"/>
          </a:xfrm>
          <a:custGeom>
            <a:avLst/>
            <a:gdLst/>
            <a:ahLst/>
            <a:cxnLst/>
            <a:rect r="r" b="b" t="t" l="l"/>
            <a:pathLst>
              <a:path h="8117178" w="22211183">
                <a:moveTo>
                  <a:pt x="0" y="0"/>
                </a:moveTo>
                <a:lnTo>
                  <a:pt x="22211182" y="0"/>
                </a:lnTo>
                <a:lnTo>
                  <a:pt x="22211182" y="8117178"/>
                </a:lnTo>
                <a:lnTo>
                  <a:pt x="0" y="81171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91344" y="1772271"/>
            <a:ext cx="5862279" cy="5790022"/>
            <a:chOff x="0" y="0"/>
            <a:chExt cx="955596" cy="9438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5596" cy="943818"/>
            </a:xfrm>
            <a:custGeom>
              <a:avLst/>
              <a:gdLst/>
              <a:ahLst/>
              <a:cxnLst/>
              <a:rect r="r" b="b" t="t" l="l"/>
              <a:pathLst>
                <a:path h="943818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943818"/>
                  </a:lnTo>
                  <a:lnTo>
                    <a:pt x="0" y="943818"/>
                  </a:lnTo>
                  <a:close/>
                </a:path>
              </a:pathLst>
            </a:custGeom>
            <a:blipFill>
              <a:blip r:embed="rId3"/>
              <a:stretch>
                <a:fillRect l="-23707" t="0" r="-2370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010319"/>
            <a:ext cx="9509470" cy="2551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21"/>
              </a:lnSpc>
            </a:pPr>
            <a:r>
              <a:rPr lang="en-US" sz="9821" spc="-176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PRESENTACIÓN  PROYECTO DE TÍTULO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215846"/>
            <a:ext cx="7144891" cy="28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6"/>
              </a:lnSpc>
            </a:pPr>
            <a:r>
              <a:rPr lang="en-US" sz="169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11 </a:t>
            </a:r>
            <a:r>
              <a:rPr lang="en-US" sz="169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septiembre de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7872" y="7486094"/>
            <a:ext cx="8252681" cy="720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75"/>
              </a:lnSpc>
            </a:pPr>
            <a:r>
              <a:rPr lang="en-US" b="true" sz="426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PLATAFORMAS WEB MARCOM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2930" y="1028700"/>
            <a:ext cx="5246370" cy="3921541"/>
            <a:chOff x="0" y="0"/>
            <a:chExt cx="955596" cy="7142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5596" cy="714286"/>
            </a:xfrm>
            <a:custGeom>
              <a:avLst/>
              <a:gdLst/>
              <a:ahLst/>
              <a:cxnLst/>
              <a:rect r="r" b="b" t="t" l="l"/>
              <a:pathLst>
                <a:path h="714286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2"/>
              <a:stretch>
                <a:fillRect l="-6201" t="0" r="-620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12930" y="5336759"/>
            <a:ext cx="5246370" cy="3921541"/>
            <a:chOff x="0" y="0"/>
            <a:chExt cx="955596" cy="7142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5596" cy="714286"/>
            </a:xfrm>
            <a:custGeom>
              <a:avLst/>
              <a:gdLst/>
              <a:ahLst/>
              <a:cxnLst/>
              <a:rect r="r" b="b" t="t" l="l"/>
              <a:pathLst>
                <a:path h="714286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714286"/>
                  </a:lnTo>
                  <a:lnTo>
                    <a:pt x="0" y="714286"/>
                  </a:lnTo>
                  <a:close/>
                </a:path>
              </a:pathLst>
            </a:custGeom>
            <a:blipFill>
              <a:blip r:embed="rId3"/>
              <a:stretch>
                <a:fillRect l="-24747" t="0" r="-24747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882990"/>
            <a:ext cx="9613762" cy="1003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49"/>
              </a:lnSpc>
            </a:pPr>
            <a:r>
              <a:rPr lang="en-US" sz="7649" spc="-13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CONTEXTO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89882"/>
            <a:ext cx="10472898" cy="385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35"/>
              </a:lnSpc>
            </a:pPr>
            <a:r>
              <a:rPr lang="en-US" b="true" sz="24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</a:t>
            </a:r>
            <a:r>
              <a:rPr lang="en-US" b="true" sz="24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arcom fue fundada el 21 de noviembre de 2012 y acumula más de 13 años de experiencia en el mercado. Se especializa en la instalación y el mantenimiento de monitores profesionales de 10 a 65 pulgadas. a lo largo de todo el país, desde Arica hasta Punta Arenas. Entre sus principales clientes se encuentran Arcoprime Ltda. y Copec S.A.</a:t>
            </a:r>
          </a:p>
          <a:p>
            <a:pPr algn="just" marL="0" indent="0" lvl="0">
              <a:lnSpc>
                <a:spcPts val="3435"/>
              </a:lnSpc>
            </a:pPr>
            <a:r>
              <a:rPr lang="en-US" b="true" sz="245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Actualmente no hay registro del stock en bodega ni donde ha quedado instalado cada monitor.</a:t>
            </a:r>
          </a:p>
          <a:p>
            <a:pPr algn="l" marL="0" indent="0" lvl="0">
              <a:lnSpc>
                <a:spcPts val="343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806997"/>
            <a:ext cx="6987811" cy="565616"/>
            <a:chOff x="0" y="0"/>
            <a:chExt cx="2137363" cy="1730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363" cy="173005"/>
            </a:xfrm>
            <a:custGeom>
              <a:avLst/>
              <a:gdLst/>
              <a:ahLst/>
              <a:cxnLst/>
              <a:rect r="r" b="b" t="t" l="l"/>
              <a:pathLst>
                <a:path h="173005" w="2137363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116501"/>
                  </a:lnTo>
                  <a:cubicBezTo>
                    <a:pt x="2137363" y="131487"/>
                    <a:pt x="2131410" y="145859"/>
                    <a:pt x="2120813" y="156456"/>
                  </a:cubicBezTo>
                  <a:cubicBezTo>
                    <a:pt x="2110217" y="167052"/>
                    <a:pt x="2095845" y="173005"/>
                    <a:pt x="2080859" y="173005"/>
                  </a:cubicBezTo>
                  <a:lnTo>
                    <a:pt x="56504" y="173005"/>
                  </a:lnTo>
                  <a:cubicBezTo>
                    <a:pt x="41518" y="173005"/>
                    <a:pt x="27146" y="167052"/>
                    <a:pt x="16550" y="156456"/>
                  </a:cubicBezTo>
                  <a:cubicBezTo>
                    <a:pt x="5953" y="145859"/>
                    <a:pt x="0" y="131487"/>
                    <a:pt x="0" y="116501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7082" y="6873531"/>
            <a:ext cx="432550" cy="432550"/>
          </a:xfrm>
          <a:custGeom>
            <a:avLst/>
            <a:gdLst/>
            <a:ahLst/>
            <a:cxnLst/>
            <a:rect r="r" b="b" t="t" l="l"/>
            <a:pathLst>
              <a:path h="432550" w="432550">
                <a:moveTo>
                  <a:pt x="0" y="0"/>
                </a:moveTo>
                <a:lnTo>
                  <a:pt x="432550" y="0"/>
                </a:lnTo>
                <a:lnTo>
                  <a:pt x="432550" y="432550"/>
                </a:lnTo>
                <a:lnTo>
                  <a:pt x="0" y="43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659733"/>
            <a:ext cx="9613762" cy="388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14"/>
              </a:lnSpc>
            </a:pPr>
            <a:r>
              <a:rPr lang="en-US" sz="10014" spc="-1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OBJETIVO</a:t>
            </a:r>
            <a:r>
              <a:rPr lang="en-US" sz="10014" spc="-18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 PLATAFORMA MARCOM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600613"/>
            <a:ext cx="7047820" cy="603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9"/>
              </a:lnSpc>
            </a:pPr>
            <a:r>
              <a:rPr lang="en-US" b="true" sz="172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Plataforma web distribuida con microservicios para inventario tecnológico, órdenes de trabajo, ventas y facturación electrónica.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41205" y="6903547"/>
            <a:ext cx="6002257" cy="2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3"/>
              </a:lnSpc>
            </a:pPr>
            <a:r>
              <a:rPr lang="en-US" b="true" sz="1459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CONTROL DE STOCK Y TRAZABILIDAD DE ÓRDENES DE TRABAJO.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7524609"/>
            <a:ext cx="6987811" cy="565616"/>
            <a:chOff x="0" y="0"/>
            <a:chExt cx="2137363" cy="17300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7363" cy="173005"/>
            </a:xfrm>
            <a:custGeom>
              <a:avLst/>
              <a:gdLst/>
              <a:ahLst/>
              <a:cxnLst/>
              <a:rect r="r" b="b" t="t" l="l"/>
              <a:pathLst>
                <a:path h="173005" w="2137363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116501"/>
                  </a:lnTo>
                  <a:cubicBezTo>
                    <a:pt x="2137363" y="131487"/>
                    <a:pt x="2131410" y="145859"/>
                    <a:pt x="2120813" y="156456"/>
                  </a:cubicBezTo>
                  <a:cubicBezTo>
                    <a:pt x="2110217" y="167052"/>
                    <a:pt x="2095845" y="173005"/>
                    <a:pt x="2080859" y="173005"/>
                  </a:cubicBezTo>
                  <a:lnTo>
                    <a:pt x="56504" y="173005"/>
                  </a:lnTo>
                  <a:cubicBezTo>
                    <a:pt x="41518" y="173005"/>
                    <a:pt x="27146" y="167052"/>
                    <a:pt x="16550" y="156456"/>
                  </a:cubicBezTo>
                  <a:cubicBezTo>
                    <a:pt x="5953" y="145859"/>
                    <a:pt x="0" y="131487"/>
                    <a:pt x="0" y="116501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7082" y="7591143"/>
            <a:ext cx="432550" cy="432550"/>
          </a:xfrm>
          <a:custGeom>
            <a:avLst/>
            <a:gdLst/>
            <a:ahLst/>
            <a:cxnLst/>
            <a:rect r="r" b="b" t="t" l="l"/>
            <a:pathLst>
              <a:path h="432550" w="432550">
                <a:moveTo>
                  <a:pt x="0" y="0"/>
                </a:moveTo>
                <a:lnTo>
                  <a:pt x="432550" y="0"/>
                </a:lnTo>
                <a:lnTo>
                  <a:pt x="432550" y="432550"/>
                </a:lnTo>
                <a:lnTo>
                  <a:pt x="0" y="43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41205" y="7621158"/>
            <a:ext cx="6318048" cy="2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3"/>
              </a:lnSpc>
            </a:pPr>
            <a:r>
              <a:rPr lang="en-US" b="true" sz="1459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INTEGRACIÓN CON FLOW Y FACTURACIÓN ELECTRÓNICA DTE/SII.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8242626"/>
            <a:ext cx="6987811" cy="565616"/>
            <a:chOff x="0" y="0"/>
            <a:chExt cx="2137363" cy="1730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7363" cy="173005"/>
            </a:xfrm>
            <a:custGeom>
              <a:avLst/>
              <a:gdLst/>
              <a:ahLst/>
              <a:cxnLst/>
              <a:rect r="r" b="b" t="t" l="l"/>
              <a:pathLst>
                <a:path h="173005" w="2137363">
                  <a:moveTo>
                    <a:pt x="56504" y="0"/>
                  </a:moveTo>
                  <a:lnTo>
                    <a:pt x="2080859" y="0"/>
                  </a:lnTo>
                  <a:cubicBezTo>
                    <a:pt x="2095845" y="0"/>
                    <a:pt x="2110217" y="5953"/>
                    <a:pt x="2120813" y="16550"/>
                  </a:cubicBezTo>
                  <a:cubicBezTo>
                    <a:pt x="2131410" y="27146"/>
                    <a:pt x="2137363" y="41518"/>
                    <a:pt x="2137363" y="56504"/>
                  </a:cubicBezTo>
                  <a:lnTo>
                    <a:pt x="2137363" y="116501"/>
                  </a:lnTo>
                  <a:cubicBezTo>
                    <a:pt x="2137363" y="131487"/>
                    <a:pt x="2131410" y="145859"/>
                    <a:pt x="2120813" y="156456"/>
                  </a:cubicBezTo>
                  <a:cubicBezTo>
                    <a:pt x="2110217" y="167052"/>
                    <a:pt x="2095845" y="173005"/>
                    <a:pt x="2080859" y="173005"/>
                  </a:cubicBezTo>
                  <a:lnTo>
                    <a:pt x="56504" y="173005"/>
                  </a:lnTo>
                  <a:cubicBezTo>
                    <a:pt x="41518" y="173005"/>
                    <a:pt x="27146" y="167052"/>
                    <a:pt x="16550" y="156456"/>
                  </a:cubicBezTo>
                  <a:cubicBezTo>
                    <a:pt x="5953" y="145859"/>
                    <a:pt x="0" y="131487"/>
                    <a:pt x="0" y="116501"/>
                  </a:cubicBezTo>
                  <a:lnTo>
                    <a:pt x="0" y="56504"/>
                  </a:lnTo>
                  <a:cubicBezTo>
                    <a:pt x="0" y="41518"/>
                    <a:pt x="5953" y="27146"/>
                    <a:pt x="16550" y="16550"/>
                  </a:cubicBezTo>
                  <a:cubicBezTo>
                    <a:pt x="27146" y="5953"/>
                    <a:pt x="41518" y="0"/>
                    <a:pt x="5650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07082" y="8309159"/>
            <a:ext cx="432550" cy="432550"/>
          </a:xfrm>
          <a:custGeom>
            <a:avLst/>
            <a:gdLst/>
            <a:ahLst/>
            <a:cxnLst/>
            <a:rect r="r" b="b" t="t" l="l"/>
            <a:pathLst>
              <a:path h="432550" w="432550">
                <a:moveTo>
                  <a:pt x="0" y="0"/>
                </a:moveTo>
                <a:lnTo>
                  <a:pt x="432550" y="0"/>
                </a:lnTo>
                <a:lnTo>
                  <a:pt x="432550" y="432550"/>
                </a:lnTo>
                <a:lnTo>
                  <a:pt x="0" y="432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41205" y="8339175"/>
            <a:ext cx="6318048" cy="245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43"/>
              </a:lnSpc>
            </a:pPr>
            <a:r>
              <a:rPr lang="en-US" b="true" sz="1459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DASHBOARD ANALÍTICO CON KPIS OPERATIVOS EN TIEMPO REAL.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291344" y="1772271"/>
            <a:ext cx="5246370" cy="5181705"/>
            <a:chOff x="0" y="0"/>
            <a:chExt cx="955596" cy="9438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5596" cy="943818"/>
            </a:xfrm>
            <a:custGeom>
              <a:avLst/>
              <a:gdLst/>
              <a:ahLst/>
              <a:cxnLst/>
              <a:rect r="r" b="b" t="t" l="l"/>
              <a:pathLst>
                <a:path h="943818" w="955596">
                  <a:moveTo>
                    <a:pt x="0" y="0"/>
                  </a:moveTo>
                  <a:lnTo>
                    <a:pt x="955596" y="0"/>
                  </a:lnTo>
                  <a:lnTo>
                    <a:pt x="955596" y="943818"/>
                  </a:lnTo>
                  <a:lnTo>
                    <a:pt x="0" y="943818"/>
                  </a:lnTo>
                  <a:close/>
                </a:path>
              </a:pathLst>
            </a:custGeom>
            <a:blipFill>
              <a:blip r:embed="rId4"/>
              <a:stretch>
                <a:fillRect l="-72" t="0" r="-72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291344" y="7198338"/>
            <a:ext cx="5364364" cy="1943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10"/>
              </a:lnSpc>
            </a:pPr>
            <a:r>
              <a:rPr lang="en-US" b="true" sz="2221" i="true">
                <a:solidFill>
                  <a:srgbClr val="FFFFF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Solución modular orientada a empresas de gestión tecnológica, con trazabilidad completa y automatización de procesos comerciales.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39871" y="2390295"/>
            <a:ext cx="1064272" cy="106427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41197" y="2390295"/>
            <a:ext cx="1064272" cy="106427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39871" y="5457769"/>
            <a:ext cx="1064272" cy="106427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41197" y="5457769"/>
            <a:ext cx="1064272" cy="106427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2735836"/>
            <a:ext cx="6663544" cy="4872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893"/>
              </a:lnSpc>
            </a:pPr>
            <a:r>
              <a:rPr lang="en-US" sz="11893" spc="-214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ALCANCE Y FUNCIONES</a:t>
            </a:r>
          </a:p>
          <a:p>
            <a:pPr algn="l" marL="0" indent="0" lvl="0">
              <a:lnSpc>
                <a:spcPts val="1399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37793" y="6015470"/>
            <a:ext cx="6168403" cy="68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1"/>
              </a:lnSpc>
            </a:pPr>
            <a:r>
              <a:rPr lang="en-US" sz="192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Módulos principales de la Plataforma Marcom para gestión tecnológica integral.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58140" y="2652225"/>
            <a:ext cx="827735" cy="61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3"/>
              </a:lnSpc>
            </a:pPr>
            <a:r>
              <a:rPr lang="en-US" sz="4553" spc="-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9871" y="3689565"/>
            <a:ext cx="2869977" cy="73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0"/>
              </a:lnSpc>
            </a:pPr>
            <a:r>
              <a:rPr lang="en-US" sz="2840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Gestión de Inventario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39871" y="4572861"/>
            <a:ext cx="2734391" cy="42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Control de stock por número de serie y seguimiento de estados de equipos.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59466" y="2652225"/>
            <a:ext cx="827735" cy="61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3"/>
              </a:lnSpc>
            </a:pPr>
            <a:r>
              <a:rPr lang="en-US" sz="4553" spc="-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41197" y="3689565"/>
            <a:ext cx="3011817" cy="37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0"/>
              </a:lnSpc>
            </a:pPr>
            <a:r>
              <a:rPr lang="en-US" sz="2840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Órdenes de Trabajo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41197" y="4572861"/>
            <a:ext cx="2734391" cy="42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Asignación, seguimiento y registro de evidencias digitales por orden.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58140" y="5719699"/>
            <a:ext cx="827735" cy="61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3"/>
              </a:lnSpc>
            </a:pPr>
            <a:r>
              <a:rPr lang="en-US" sz="4553" spc="-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9871" y="6757039"/>
            <a:ext cx="2869977" cy="73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0"/>
              </a:lnSpc>
            </a:pPr>
            <a:r>
              <a:rPr lang="en-US" sz="2840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Transacciones y Facturación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39871" y="7640335"/>
            <a:ext cx="2734391" cy="63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Cobros, validación de crédito y emisión de documentos tributarios electrónicos (DTE).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59466" y="5719699"/>
            <a:ext cx="827735" cy="616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53"/>
              </a:lnSpc>
            </a:pPr>
            <a:r>
              <a:rPr lang="en-US" sz="4553" spc="-81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41197" y="6757039"/>
            <a:ext cx="2869977" cy="37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40"/>
              </a:lnSpc>
            </a:pPr>
            <a:r>
              <a:rPr lang="en-US" sz="2840" spc="-51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Dashboard Analítico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641197" y="7640335"/>
            <a:ext cx="2734391" cy="42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80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KPIs operativos para visibilidad y toma de decisiones en tiempo real.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61475"/>
            <a:ext cx="9044934" cy="377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492"/>
              </a:lnSpc>
            </a:pPr>
            <a:r>
              <a:rPr lang="en-US" sz="14492" spc="-26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METODOLOGÍA ÁGIL SCRUM</a:t>
            </a:r>
          </a:p>
        </p:txBody>
      </p:sp>
      <p:sp>
        <p:nvSpPr>
          <p:cNvPr name="AutoShape 3" id="3"/>
          <p:cNvSpPr/>
          <p:nvPr/>
        </p:nvSpPr>
        <p:spPr>
          <a:xfrm flipH="true" flipV="true">
            <a:off x="11802706" y="1624822"/>
            <a:ext cx="19050" cy="6762234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4" id="4"/>
          <p:cNvGrpSpPr/>
          <p:nvPr/>
        </p:nvGrpSpPr>
        <p:grpSpPr>
          <a:xfrm rot="0">
            <a:off x="11132839" y="2221635"/>
            <a:ext cx="1301634" cy="130163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715875" y="2314575"/>
            <a:ext cx="3514725" cy="3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0"/>
              </a:lnSpc>
              <a:spcBef>
                <a:spcPct val="0"/>
              </a:spcBef>
            </a:pPr>
            <a:r>
              <a:rPr lang="en-US" sz="2980" spc="-53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Entregas Modulares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15875" y="2847975"/>
            <a:ext cx="3886200" cy="8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3"/>
              </a:lnSpc>
              <a:spcBef>
                <a:spcPct val="0"/>
              </a:spcBef>
            </a:pPr>
            <a:r>
              <a:rPr lang="en-US" sz="155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Sprints organizados por módulos: Inventario, Operaciones en Terreno, Transaccional y Analítico.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77485" y="2554269"/>
            <a:ext cx="1012342" cy="63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1"/>
              </a:lnSpc>
            </a:pPr>
            <a:r>
              <a:rPr lang="en-US" sz="4781" spc="-86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132839" y="4344892"/>
            <a:ext cx="1301634" cy="130163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715875" y="4438650"/>
            <a:ext cx="3514725" cy="389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0"/>
              </a:lnSpc>
              <a:spcBef>
                <a:spcPct val="0"/>
              </a:spcBef>
            </a:pPr>
            <a:r>
              <a:rPr lang="en-US" sz="2980" spc="-53" strike="noStrike" u="non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Integraciones Externas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15875" y="4972050"/>
            <a:ext cx="3886200" cy="8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3"/>
              </a:lnSpc>
              <a:spcBef>
                <a:spcPct val="0"/>
              </a:spcBef>
            </a:pPr>
            <a:r>
              <a:rPr lang="en-US" sz="155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Adaptabilidad para integraciones con Flow (pagos), DTE/SII (facturación electrónica) y webhooks en cada sprint.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77485" y="4677525"/>
            <a:ext cx="1012342" cy="63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1"/>
              </a:lnSpc>
            </a:pPr>
            <a:r>
              <a:rPr lang="en-US" sz="4781" spc="-86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1132839" y="6473629"/>
            <a:ext cx="1301634" cy="130163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713850" y="6566721"/>
            <a:ext cx="3510060" cy="389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2"/>
              </a:lnSpc>
            </a:pPr>
            <a:r>
              <a:rPr lang="en-US" sz="2982" spc="-5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Control de Avances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15875" y="7096125"/>
            <a:ext cx="3886200" cy="82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3"/>
              </a:lnSpc>
              <a:spcBef>
                <a:spcPct val="0"/>
              </a:spcBef>
            </a:pPr>
            <a:r>
              <a:rPr lang="en-US" sz="1559" strike="noStrike" u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Desarrollo iterativo y controlado con Product Backlog, validación temprana y retroalimentación continua.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77485" y="6806262"/>
            <a:ext cx="1012342" cy="63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81"/>
              </a:lnSpc>
            </a:pPr>
            <a:r>
              <a:rPr lang="en-US" sz="4781" spc="-86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9603531"/>
            <a:ext cx="22951717" cy="3086100"/>
            <a:chOff x="0" y="0"/>
            <a:chExt cx="6044897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4897" cy="812800"/>
            </a:xfrm>
            <a:custGeom>
              <a:avLst/>
              <a:gdLst/>
              <a:ahLst/>
              <a:cxnLst/>
              <a:rect r="r" b="b" t="t" l="l"/>
              <a:pathLst>
                <a:path h="812800" w="6044897">
                  <a:moveTo>
                    <a:pt x="0" y="0"/>
                  </a:moveTo>
                  <a:lnTo>
                    <a:pt x="6044897" y="0"/>
                  </a:lnTo>
                  <a:lnTo>
                    <a:pt x="604489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044897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073432"/>
            <a:ext cx="7678083" cy="388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014"/>
              </a:lnSpc>
            </a:pPr>
            <a:r>
              <a:rPr lang="en-US" sz="10014" spc="-180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PROYECTO 2</a:t>
            </a:r>
          </a:p>
          <a:p>
            <a:pPr algn="l" marL="0" indent="0" lvl="0">
              <a:lnSpc>
                <a:spcPts val="10014"/>
              </a:lnSpc>
            </a:pPr>
            <a:r>
              <a:rPr lang="en-US" sz="10014" spc="-180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METODOLOGÍA</a:t>
            </a:r>
          </a:p>
          <a:p>
            <a:pPr algn="l" marL="0" indent="0" lvl="0">
              <a:lnSpc>
                <a:spcPts val="10014"/>
              </a:lnSpc>
            </a:pPr>
            <a:r>
              <a:rPr lang="en-US" sz="10014" spc="-180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Y STACK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989108"/>
            <a:ext cx="7359180" cy="203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1"/>
              </a:lnSpc>
            </a:pPr>
            <a:r>
              <a:rPr lang="en-US" sz="23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Scrum permite entregas modulares y validación temprana en cada sprint. La arquitectura de microservicios ofrece adaptabilidad para integraciones externas como Flow y DTE/SII, asegurando un desarrollo iterativo y controlado.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34471" y="3565612"/>
            <a:ext cx="6135538" cy="456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7"/>
              </a:lnSpc>
            </a:pPr>
            <a:r>
              <a:rPr lang="en-US" b="true" sz="3317" spc="-59">
                <a:solidFill>
                  <a:srgbClr val="24497B"/>
                </a:solidFill>
                <a:latin typeface="Inter Bold"/>
                <a:ea typeface="Inter Bold"/>
                <a:cs typeface="Inter Bold"/>
                <a:sym typeface="Inter Bold"/>
              </a:rPr>
              <a:t>STACK TECNOLÓGICO: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45180" y="4556506"/>
            <a:ext cx="7514120" cy="608217"/>
            <a:chOff x="0" y="0"/>
            <a:chExt cx="2137363" cy="1730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7363" cy="173005"/>
            </a:xfrm>
            <a:custGeom>
              <a:avLst/>
              <a:gdLst/>
              <a:ahLst/>
              <a:cxnLst/>
              <a:rect r="r" b="b" t="t" l="l"/>
              <a:pathLst>
                <a:path h="173005" w="2137363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120459"/>
                  </a:lnTo>
                  <a:cubicBezTo>
                    <a:pt x="2137363" y="149479"/>
                    <a:pt x="2113837" y="173005"/>
                    <a:pt x="2084817" y="173005"/>
                  </a:cubicBezTo>
                  <a:lnTo>
                    <a:pt x="52546" y="173005"/>
                  </a:lnTo>
                  <a:cubicBezTo>
                    <a:pt x="23526" y="173005"/>
                    <a:pt x="0" y="149479"/>
                    <a:pt x="0" y="120459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829465" y="4628051"/>
            <a:ext cx="465129" cy="465129"/>
          </a:xfrm>
          <a:custGeom>
            <a:avLst/>
            <a:gdLst/>
            <a:ahLst/>
            <a:cxnLst/>
            <a:rect r="r" b="b" t="t" l="l"/>
            <a:pathLst>
              <a:path h="465129" w="465129">
                <a:moveTo>
                  <a:pt x="0" y="0"/>
                </a:moveTo>
                <a:lnTo>
                  <a:pt x="465129" y="0"/>
                </a:lnTo>
                <a:lnTo>
                  <a:pt x="465129" y="465129"/>
                </a:lnTo>
                <a:lnTo>
                  <a:pt x="0" y="46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03817" y="4690927"/>
            <a:ext cx="6635645" cy="29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9"/>
              </a:lnSpc>
            </a:pPr>
            <a:r>
              <a:rPr lang="en-US" b="true" sz="174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BACKEND PYTHON (MICROSERVICIOS) + FRONTEND REACT.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45180" y="5357973"/>
            <a:ext cx="7514120" cy="608217"/>
            <a:chOff x="0" y="0"/>
            <a:chExt cx="2137363" cy="1730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37363" cy="173005"/>
            </a:xfrm>
            <a:custGeom>
              <a:avLst/>
              <a:gdLst/>
              <a:ahLst/>
              <a:cxnLst/>
              <a:rect r="r" b="b" t="t" l="l"/>
              <a:pathLst>
                <a:path h="173005" w="2137363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120459"/>
                  </a:lnTo>
                  <a:cubicBezTo>
                    <a:pt x="2137363" y="149479"/>
                    <a:pt x="2113837" y="173005"/>
                    <a:pt x="2084817" y="173005"/>
                  </a:cubicBezTo>
                  <a:lnTo>
                    <a:pt x="52546" y="173005"/>
                  </a:lnTo>
                  <a:cubicBezTo>
                    <a:pt x="23526" y="173005"/>
                    <a:pt x="0" y="149479"/>
                    <a:pt x="0" y="120459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9829465" y="5429517"/>
            <a:ext cx="465129" cy="465129"/>
          </a:xfrm>
          <a:custGeom>
            <a:avLst/>
            <a:gdLst/>
            <a:ahLst/>
            <a:cxnLst/>
            <a:rect r="r" b="b" t="t" l="l"/>
            <a:pathLst>
              <a:path h="465129" w="465129">
                <a:moveTo>
                  <a:pt x="0" y="0"/>
                </a:moveTo>
                <a:lnTo>
                  <a:pt x="465129" y="0"/>
                </a:lnTo>
                <a:lnTo>
                  <a:pt x="465129" y="465129"/>
                </a:lnTo>
                <a:lnTo>
                  <a:pt x="0" y="46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03817" y="5492393"/>
            <a:ext cx="6635645" cy="29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9"/>
              </a:lnSpc>
            </a:pPr>
            <a:r>
              <a:rPr lang="en-US" b="true" sz="174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POSTGRESQL PARA PERSISTENCIA DE DATOS.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45180" y="6160796"/>
            <a:ext cx="7514120" cy="608217"/>
            <a:chOff x="0" y="0"/>
            <a:chExt cx="2137363" cy="1730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7363" cy="173005"/>
            </a:xfrm>
            <a:custGeom>
              <a:avLst/>
              <a:gdLst/>
              <a:ahLst/>
              <a:cxnLst/>
              <a:rect r="r" b="b" t="t" l="l"/>
              <a:pathLst>
                <a:path h="173005" w="2137363">
                  <a:moveTo>
                    <a:pt x="52546" y="0"/>
                  </a:moveTo>
                  <a:lnTo>
                    <a:pt x="2084817" y="0"/>
                  </a:lnTo>
                  <a:cubicBezTo>
                    <a:pt x="2098753" y="0"/>
                    <a:pt x="2112118" y="5536"/>
                    <a:pt x="2121973" y="15390"/>
                  </a:cubicBezTo>
                  <a:cubicBezTo>
                    <a:pt x="2131827" y="25245"/>
                    <a:pt x="2137363" y="38610"/>
                    <a:pt x="2137363" y="52546"/>
                  </a:cubicBezTo>
                  <a:lnTo>
                    <a:pt x="2137363" y="120459"/>
                  </a:lnTo>
                  <a:cubicBezTo>
                    <a:pt x="2137363" y="149479"/>
                    <a:pt x="2113837" y="173005"/>
                    <a:pt x="2084817" y="173005"/>
                  </a:cubicBezTo>
                  <a:lnTo>
                    <a:pt x="52546" y="173005"/>
                  </a:lnTo>
                  <a:cubicBezTo>
                    <a:pt x="23526" y="173005"/>
                    <a:pt x="0" y="149479"/>
                    <a:pt x="0" y="120459"/>
                  </a:cubicBezTo>
                  <a:lnTo>
                    <a:pt x="0" y="52546"/>
                  </a:lnTo>
                  <a:cubicBezTo>
                    <a:pt x="0" y="38610"/>
                    <a:pt x="5536" y="25245"/>
                    <a:pt x="15390" y="15390"/>
                  </a:cubicBezTo>
                  <a:cubicBezTo>
                    <a:pt x="25245" y="5536"/>
                    <a:pt x="38610" y="0"/>
                    <a:pt x="52546" y="0"/>
                  </a:cubicBezTo>
                  <a:close/>
                </a:path>
              </a:pathLst>
            </a:custGeom>
            <a:solidFill>
              <a:srgbClr val="24497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37363" cy="211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138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829465" y="6232340"/>
            <a:ext cx="465129" cy="465129"/>
          </a:xfrm>
          <a:custGeom>
            <a:avLst/>
            <a:gdLst/>
            <a:ahLst/>
            <a:cxnLst/>
            <a:rect r="r" b="b" t="t" l="l"/>
            <a:pathLst>
              <a:path h="465129" w="465129">
                <a:moveTo>
                  <a:pt x="0" y="0"/>
                </a:moveTo>
                <a:lnTo>
                  <a:pt x="465129" y="0"/>
                </a:lnTo>
                <a:lnTo>
                  <a:pt x="465129" y="465129"/>
                </a:lnTo>
                <a:lnTo>
                  <a:pt x="0" y="46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403817" y="6295216"/>
            <a:ext cx="6635645" cy="29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9"/>
              </a:lnSpc>
            </a:pPr>
            <a:r>
              <a:rPr lang="en-US" b="true" sz="1742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INTEGRACIÓN CON FLOW Y DTE/SII.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0" y="0"/>
            <a:ext cx="18288000" cy="10431861"/>
          </a:xfrm>
          <a:custGeom>
            <a:avLst/>
            <a:gdLst/>
            <a:ahLst/>
            <a:cxnLst/>
            <a:rect r="r" b="b" t="t" l="l"/>
            <a:pathLst>
              <a:path h="10431861" w="18288000">
                <a:moveTo>
                  <a:pt x="0" y="0"/>
                </a:moveTo>
                <a:lnTo>
                  <a:pt x="18288000" y="0"/>
                </a:lnTo>
                <a:lnTo>
                  <a:pt x="18288000" y="10431861"/>
                </a:lnTo>
                <a:lnTo>
                  <a:pt x="0" y="10431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615" t="-11857" r="-4834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1776" y="1028700"/>
            <a:ext cx="14740901" cy="8898585"/>
          </a:xfrm>
          <a:custGeom>
            <a:avLst/>
            <a:gdLst/>
            <a:ahLst/>
            <a:cxnLst/>
            <a:rect r="r" b="b" t="t" l="l"/>
            <a:pathLst>
              <a:path h="8898585" w="14740901">
                <a:moveTo>
                  <a:pt x="0" y="0"/>
                </a:moveTo>
                <a:lnTo>
                  <a:pt x="14740902" y="0"/>
                </a:lnTo>
                <a:lnTo>
                  <a:pt x="14740902" y="8898585"/>
                </a:lnTo>
                <a:lnTo>
                  <a:pt x="0" y="8898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53" t="-9416" r="0" b="-21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29000" y="-9525"/>
            <a:ext cx="114300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24497B"/>
                </a:solidFill>
                <a:latin typeface="Anton"/>
                <a:ea typeface="Anton"/>
                <a:cs typeface="Anton"/>
                <a:sym typeface="Anton"/>
              </a:rPr>
              <a:t>MODELO ENTIDAD-RELACIÓN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449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6500" y="3686175"/>
            <a:ext cx="1333500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¡GRACIAS!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381500" y="5362575"/>
            <a:ext cx="9525000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¿Preguntas o comentarios?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DAHU7Kv-kPY</dc:identifier>
  <dcterms:modified xsi:type="dcterms:W3CDTF">2011-08-01T06:04:30Z</dcterms:modified>
  <cp:revision>1</cp:revision>
  <dc:title>Copia de Presentación con plantilla</dc:title>
</cp:coreProperties>
</file>